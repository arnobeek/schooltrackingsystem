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482596" cy="274320"/>
          </a:xfrm>
          <a:prstGeom prst="rect">
            <a:avLst/>
          </a:prstGeom>
          <a:solidFill>
            <a:srgbClr val="1A3300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4825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01. CONTEXT &amp; PROBLEM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73152" cy="82296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029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Overview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1124712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173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178308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Ugandan secondary schools rely on manual registers and physical archives, leading to systemic failures in accountability and data integrity.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560320"/>
            <a:ext cx="530352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26517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4CC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 Pain Points</a:t>
            </a:r>
            <a:endParaRPr lang="en-US" sz="15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063240"/>
            <a:ext cx="256032" cy="2560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05840" y="303580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Ghost-teaching and absenteeism</a:t>
            </a:r>
            <a:endParaRPr lang="en-US" sz="13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538728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05840" y="351129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errors in academic grading</a:t>
            </a:r>
            <a:endParaRPr lang="en-US" sz="13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014216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05840" y="398678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 fee payment tracking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400800" y="14173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Vision Statement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6400800" y="178308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bridge the digital gap by deploying a centralized tracking ecosystem that enforces physical presence and financial transparency.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400800" y="2560320"/>
            <a:ext cx="5303520" cy="1920240"/>
          </a:xfrm>
          <a:prstGeom prst="rect">
            <a:avLst/>
          </a:prstGeom>
          <a:solidFill>
            <a:srgbClr val="1E293B"/>
          </a:solidFill>
          <a:ln w="12700">
            <a:solidFill>
              <a:srgbClr val="2D4A0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6583680" y="26517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4CC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Goals</a:t>
            </a:r>
            <a:endParaRPr lang="en-US" sz="15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3063240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03720" y="303580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Teacher Accountability</a:t>
            </a:r>
            <a:endParaRPr lang="en-US" sz="13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3538728"/>
            <a:ext cx="256032" cy="25603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903720" y="351129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Performance Analytics</a:t>
            </a:r>
            <a:endParaRPr lang="en-US" sz="13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4014216"/>
            <a:ext cx="256032" cy="25603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903720" y="398678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Parent Notification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2167128" cy="274320"/>
          </a:xfrm>
          <a:prstGeom prst="rect">
            <a:avLst/>
          </a:prstGeom>
          <a:solidFill>
            <a:srgbClr val="1A3300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216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02. THE STS SYSTEM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73152" cy="82296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029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Proposed Solution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1124712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173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Dual-Factor Verification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1783080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mobile and web-integrated platform that eliminates attendance fraud using hardware-software synergy.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468880"/>
            <a:ext cx="301752" cy="30175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2450592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ID: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identity validation.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063240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14400" y="3044952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Geofencing: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validation (Radius: 200m).</a:t>
            </a:r>
            <a:endParaRPr lang="en-US" sz="13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657600"/>
            <a:ext cx="301752" cy="30175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14400" y="3639312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Timestamping: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logs of entry/exit.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00800" y="1417320"/>
            <a:ext cx="5303520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6583680" y="15087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4CC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Academic Engine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583680" y="192024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mark sheets and grade computation based on UNEB standards.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400800" y="2926080"/>
            <a:ext cx="5303520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6583680" y="30175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4CC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Financial Module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583680" y="342900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ledger system tracking individual student balances and installments.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400800" y="4434840"/>
            <a:ext cx="5303520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6583680" y="45262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4CC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Alert Gateway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6583680" y="493776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SMS triggers to parents for absenteeism or fee dues.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956816" cy="274320"/>
          </a:xfrm>
          <a:prstGeom prst="rect">
            <a:avLst/>
          </a:prstGeom>
          <a:solidFill>
            <a:srgbClr val="1A3300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03. DESIGN SPECS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73152" cy="82296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029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Requirements &amp; Analysis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1124712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173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Functional Priorities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530352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192024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FR-01: </a:t>
            </a:r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must manage user roles (RBAC).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" y="237744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FR-02: </a:t>
            </a:r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must validate GPS against school coordinates.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85800" y="283464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FR-03: </a:t>
            </a:r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of PDF report cards.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34747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Non-Functional Specs</a:t>
            </a:r>
            <a:endParaRPr lang="en-US" sz="18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931920"/>
            <a:ext cx="274320" cy="2743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68680" y="391363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Latency: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&lt; 2s.</a:t>
            </a:r>
            <a:endParaRPr lang="en-US" sz="13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48056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68680" y="446227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data encryption.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400800" y="14173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Stakeholder Mapping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6400800" y="1828800"/>
            <a:ext cx="530352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6583680" y="205740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Teachers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6583680" y="2386584"/>
            <a:ext cx="4754880" cy="16459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583680" y="2386584"/>
            <a:ext cx="4754880" cy="164592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583680" y="260604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Oversight &amp; Reporting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6583680" y="297180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Accountants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6583680" y="3300984"/>
            <a:ext cx="4754880" cy="16459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583680" y="3300984"/>
            <a:ext cx="4041648" cy="1645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583680" y="352044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&amp; Arrears Management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6583680" y="388620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6583680" y="4215384"/>
            <a:ext cx="4754880" cy="16459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583680" y="4215384"/>
            <a:ext cx="3328416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583680" y="443484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Consumption (SMS/Web)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746504" cy="274320"/>
          </a:xfrm>
          <a:prstGeom prst="rect">
            <a:avLst/>
          </a:prstGeom>
          <a:solidFill>
            <a:srgbClr val="1A3300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04. TECH STACK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73152" cy="82296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029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1124712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63040"/>
            <a:ext cx="1124712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600200"/>
            <a:ext cx="548640" cy="5486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371600" y="2240280"/>
            <a:ext cx="1005840" cy="246888"/>
          </a:xfrm>
          <a:prstGeom prst="rect">
            <a:avLst/>
          </a:prstGeom>
          <a:solidFill>
            <a:srgbClr val="1A3300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371600" y="224028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88720" y="2560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/ Android Native</a:t>
            </a:r>
            <a:endParaRPr lang="en-US" sz="11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600200"/>
            <a:ext cx="548640" cy="5486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029200" y="2240280"/>
            <a:ext cx="1005840" cy="246888"/>
          </a:xfrm>
          <a:prstGeom prst="rect">
            <a:avLst/>
          </a:prstGeom>
          <a:solidFill>
            <a:srgbClr val="1A3300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029200" y="224028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Business Logic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4846320" y="2560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Express API</a:t>
            </a:r>
            <a:endParaRPr lang="en-US" sz="11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1600200"/>
            <a:ext cx="548640" cy="54864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8686800" y="2240280"/>
            <a:ext cx="1005840" cy="246888"/>
          </a:xfrm>
          <a:prstGeom prst="rect">
            <a:avLst/>
          </a:prstGeom>
          <a:solidFill>
            <a:srgbClr val="1A3300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8686800" y="2240280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Storage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8503920" y="2560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Redis</a:t>
            </a:r>
            <a:endParaRPr lang="en-US" sz="11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1783080"/>
            <a:ext cx="457200" cy="457200"/>
          </a:xfrm>
          <a:prstGeom prst="rect">
            <a:avLst/>
          </a:prstGeom>
        </p:spPr>
      </p:pic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1783080"/>
            <a:ext cx="457200" cy="457200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457200" y="3931920"/>
            <a:ext cx="5394960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Text 16"/>
          <p:cNvSpPr/>
          <p:nvPr/>
        </p:nvSpPr>
        <p:spPr>
          <a:xfrm>
            <a:off x="640080" y="404164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4CC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Scalability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640080" y="44805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as a multi-tenant SaaS. One deployment can serve multiple schools with isolated databases.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6309360" y="3931920"/>
            <a:ext cx="5394960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6" name="Text 19"/>
          <p:cNvSpPr/>
          <p:nvPr/>
        </p:nvSpPr>
        <p:spPr>
          <a:xfrm>
            <a:off x="6492240" y="404164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4CC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Integration Layer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6492240" y="44805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SMS API integration for real-time mobile push notifications across Ugandan networks.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956816" cy="274320"/>
          </a:xfrm>
          <a:prstGeom prst="rect">
            <a:avLst/>
          </a:prstGeom>
          <a:solidFill>
            <a:srgbClr val="1A3300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05. QA &amp; ROADMAP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73152" cy="82296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0292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Testing &amp; Deployment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1124712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173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Quality Assurance Strategy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5303520" cy="21945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96596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51560" y="194767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Testing: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individual modules (Grading logic).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60604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1560" y="258775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Testing: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hardware handshake.</a:t>
            </a:r>
            <a:endParaRPr lang="en-US" sz="13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24612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51560" y="322783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UAT: </a:t>
            </a:r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testing at selected schools.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400800" y="14173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 Phases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7653528" y="1874520"/>
            <a:ext cx="0" cy="3383280"/>
          </a:xfrm>
          <a:prstGeom prst="line">
            <a:avLst/>
          </a:prstGeom>
          <a:noFill/>
          <a:ln w="25400">
            <a:solidFill>
              <a:srgbClr val="334155"/>
            </a:solidFill>
            <a:prstDash val="dash"/>
          </a:ln>
        </p:spPr>
      </p:sp>
      <p:sp>
        <p:nvSpPr>
          <p:cNvPr id="17" name="Shape 12"/>
          <p:cNvSpPr/>
          <p:nvPr/>
        </p:nvSpPr>
        <p:spPr>
          <a:xfrm>
            <a:off x="6400800" y="1892808"/>
            <a:ext cx="1097280" cy="292608"/>
          </a:xfrm>
          <a:prstGeom prst="rect">
            <a:avLst/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400800" y="189280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562088" y="1920240"/>
            <a:ext cx="182880" cy="182880"/>
          </a:xfrm>
          <a:prstGeom prst="ellipse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7909560" y="18745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 Environment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7909560" y="22402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testing and API documentation (Swagger).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6400800" y="3081528"/>
            <a:ext cx="1097280" cy="29260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400800" y="308152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7562088" y="3108960"/>
            <a:ext cx="182880" cy="182880"/>
          </a:xfrm>
          <a:prstGeom prst="ellipse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7909560" y="306324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Staging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7909560" y="34290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to AWS/DigitalOcean for remote access.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6400800" y="4270248"/>
            <a:ext cx="1097280" cy="292608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400800" y="427024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7562088" y="4297680"/>
            <a:ext cx="182880" cy="182880"/>
          </a:xfrm>
          <a:prstGeom prst="ellipse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7909560" y="425196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 Launch</a:t>
            </a:r>
            <a:endParaRPr lang="en-US" sz="1500" dirty="0"/>
          </a:p>
        </p:txBody>
      </p:sp>
      <p:sp>
        <p:nvSpPr>
          <p:cNvPr id="31" name="Text 26"/>
          <p:cNvSpPr/>
          <p:nvPr/>
        </p:nvSpPr>
        <p:spPr>
          <a:xfrm>
            <a:off x="7909560" y="46177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handover and staff training sessions.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STS – School Tracking System</dc:title>
  <dc:subject>PptxGenJS Presentation</dc:subject>
  <dc:creator>PptxGenJS</dc:creator>
  <cp:lastModifiedBy>PptxGenJS</cp:lastModifiedBy>
  <cp:revision>1</cp:revision>
  <dcterms:created xsi:type="dcterms:W3CDTF">2026-05-06T19:22:49Z</dcterms:created>
  <dcterms:modified xsi:type="dcterms:W3CDTF">2026-05-06T19:22:49Z</dcterms:modified>
</cp:coreProperties>
</file>